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2" r:id="rId16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  <Relationship Id="rId16" Type="http://schemas.openxmlformats.org/officeDocument/2006/relationships/slide" Target="slides/slide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91" Type="http://schemas.openxmlformats.org/officeDocument/2006/relationships/image" Target="../media/proto_overview.png"/><Relationship Id="rId92" Type="http://schemas.openxmlformats.org/officeDocument/2006/relationships/image" Target="../media/proto_triage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SentinelReg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Risk, Fraud &amp; Regulatory Intelligence Copilot (BFSI)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Avanish Kasar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Text 0"/>
          <p:cNvSpPr txBox="1"/>
          <p:nvPr/>
        </p:nvSpPr>
        <p:spPr>
          <a:xfrm>
            <a:off x="274320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Brief</a:t>
            </a:r>
            <a:endParaRPr lang="en-US" sz="2000" dirty="0"/>
          </a:p>
        </p:txBody>
      </p:sp>
      <p:sp>
        <p:nvSpPr>
          <p:cNvPr id="1001" name="Text 1"/>
          <p:cNvSpPr txBox="1"/>
          <p:nvPr/>
        </p:nvSpPr>
        <p:spPr>
          <a:xfrm>
            <a:off x="4206240" y="548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Fraud &amp; Regulatory Intelligence Copilot (BFSI)</a:t>
            </a:r>
            <a:endParaRPr lang="en-US" sz="1000" dirty="0"/>
          </a:p>
        </p:txBody>
      </p:sp>
      <p:sp>
        <p:nvSpPr>
          <p:cNvPr id="1002" name="Shape 2"/>
          <p:cNvSpPr/>
          <p:nvPr/>
        </p:nvSpPr>
        <p:spPr>
          <a:xfrm>
            <a:off x="274320" y="960120"/>
            <a:ext cx="422452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03" name="Shape 3"/>
          <p:cNvSpPr/>
          <p:nvPr/>
        </p:nvSpPr>
        <p:spPr>
          <a:xfrm>
            <a:off x="402336" y="1078992"/>
            <a:ext cx="274320" cy="27432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04" name="Text 4"/>
          <p:cNvSpPr txBox="1"/>
          <p:nvPr/>
        </p:nvSpPr>
        <p:spPr>
          <a:xfrm>
            <a:off x="402336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05" name="Text 5"/>
          <p:cNvSpPr txBox="1"/>
          <p:nvPr/>
        </p:nvSpPr>
        <p:spPr>
          <a:xfrm>
            <a:off x="749808" y="107899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problem</a:t>
            </a:r>
            <a:endParaRPr lang="en-US" sz="1300" dirty="0"/>
          </a:p>
        </p:txBody>
      </p:sp>
      <p:sp>
        <p:nvSpPr>
          <p:cNvPr id="1006" name="Shape 6"/>
          <p:cNvSpPr/>
          <p:nvPr/>
        </p:nvSpPr>
        <p:spPr>
          <a:xfrm>
            <a:off x="4645152" y="960120"/>
            <a:ext cx="422452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07" name="Shape 7"/>
          <p:cNvSpPr/>
          <p:nvPr/>
        </p:nvSpPr>
        <p:spPr>
          <a:xfrm>
            <a:off x="4773168" y="1078992"/>
            <a:ext cx="274320" cy="27432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08" name="Text 8"/>
          <p:cNvSpPr txBox="1"/>
          <p:nvPr/>
        </p:nvSpPr>
        <p:spPr>
          <a:xfrm>
            <a:off x="4773168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09" name="Text 9"/>
          <p:cNvSpPr txBox="1"/>
          <p:nvPr/>
        </p:nvSpPr>
        <p:spPr>
          <a:xfrm>
            <a:off x="5120640" y="107899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/ persona</a:t>
            </a:r>
            <a:endParaRPr lang="en-US" sz="1300" dirty="0"/>
          </a:p>
        </p:txBody>
      </p:sp>
      <p:sp>
        <p:nvSpPr>
          <p:cNvPr id="1010" name="Shape 10"/>
          <p:cNvSpPr/>
          <p:nvPr/>
        </p:nvSpPr>
        <p:spPr>
          <a:xfrm>
            <a:off x="274320" y="256032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11" name="Shape 11"/>
          <p:cNvSpPr/>
          <p:nvPr/>
        </p:nvSpPr>
        <p:spPr>
          <a:xfrm>
            <a:off x="402336" y="2679192"/>
            <a:ext cx="274320" cy="27432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12" name="Text 12"/>
          <p:cNvSpPr txBox="1"/>
          <p:nvPr/>
        </p:nvSpPr>
        <p:spPr>
          <a:xfrm>
            <a:off x="40233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13" name="Text 13"/>
          <p:cNvSpPr txBox="1"/>
          <p:nvPr/>
        </p:nvSpPr>
        <p:spPr>
          <a:xfrm>
            <a:off x="749808" y="26791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today vs. with SentinelReg</a:t>
            </a:r>
            <a:endParaRPr lang="en-US" sz="1300" dirty="0"/>
          </a:p>
        </p:txBody>
      </p:sp>
      <p:sp>
        <p:nvSpPr>
          <p:cNvPr id="1014" name="Shape 14"/>
          <p:cNvSpPr/>
          <p:nvPr/>
        </p:nvSpPr>
        <p:spPr>
          <a:xfrm>
            <a:off x="5632704" y="2560320"/>
            <a:ext cx="323697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15" name="Shape 15"/>
          <p:cNvSpPr/>
          <p:nvPr/>
        </p:nvSpPr>
        <p:spPr>
          <a:xfrm>
            <a:off x="5760720" y="2679192"/>
            <a:ext cx="274320" cy="27432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16" name="Text 16"/>
          <p:cNvSpPr txBox="1"/>
          <p:nvPr/>
        </p:nvSpPr>
        <p:spPr>
          <a:xfrm>
            <a:off x="576072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017" name="Text 17"/>
          <p:cNvSpPr txBox="1"/>
          <p:nvPr/>
        </p:nvSpPr>
        <p:spPr>
          <a:xfrm>
            <a:off x="6108192" y="2679192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domain context</a:t>
            </a:r>
            <a:endParaRPr lang="en-US" sz="1300" dirty="0"/>
          </a:p>
        </p:txBody>
      </p:sp>
      <p:sp>
        <p:nvSpPr>
          <p:cNvPr id="1018" name="Text 18"/>
          <p:cNvSpPr txBox="1"/>
          <p:nvPr/>
        </p:nvSpPr>
        <p:spPr>
          <a:xfrm>
            <a:off x="402336" y="138988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NBFCs must report suspicious activity to the FIU within 7 days of being satisfied it is suspicious (RBI KYC Master Direction).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volumes, scattered evidence and hand-written SARs make filings slow and inconsistent, and hard to defend to an examiner.</a:t>
            </a:r>
            <a:endParaRPr lang="en-US" sz="1100" dirty="0"/>
          </a:p>
        </p:txBody>
      </p:sp>
      <p:sp>
        <p:nvSpPr>
          <p:cNvPr id="1019" name="Text 19"/>
          <p:cNvSpPr txBox="1"/>
          <p:nvPr/>
        </p:nvSpPr>
        <p:spPr>
          <a:xfrm>
            <a:off x="4773168" y="138988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compliance analyst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triages alerts, investigates, drafts the SAR.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Officer / MLRO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reviews and files with the regulator.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&amp; examiners</a:t>
            </a:r>
            <a:pPr algn="l" indent="0" marL="0"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 proof of who decided what, when, and on which evidence.</a:t>
            </a:r>
            <a:endParaRPr lang="en-US" sz="1100" dirty="0"/>
          </a:p>
        </p:txBody>
      </p:sp>
      <p:sp>
        <p:nvSpPr>
          <p:cNvPr id="1020" name="Shape 20"/>
          <p:cNvSpPr/>
          <p:nvPr/>
        </p:nvSpPr>
        <p:spPr>
          <a:xfrm>
            <a:off x="402336" y="3035808"/>
            <a:ext cx="2395728" cy="1810512"/>
          </a:xfrm>
          <a:prstGeom prst="roundRect">
            <a:avLst>
              <a:gd name="adj" fmla="val 3030"/>
            </a:avLst>
          </a:prstGeom>
          <a:solidFill>
            <a:srgbClr val="FDF1EF"/>
          </a:solidFill>
          <a:ln w="9525">
            <a:solidFill>
              <a:srgbClr val="F0C9C3"/>
            </a:solidFill>
            <a:prstDash val="solid"/>
          </a:ln>
        </p:spPr>
      </p:sp>
      <p:sp>
        <p:nvSpPr>
          <p:cNvPr id="1021" name="Text 21"/>
          <p:cNvSpPr txBox="1"/>
          <p:nvPr/>
        </p:nvSpPr>
        <p:spPr>
          <a:xfrm>
            <a:off x="493776" y="3090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022" name="Text 22"/>
          <p:cNvSpPr txBox="1"/>
          <p:nvPr/>
        </p:nvSpPr>
        <p:spPr>
          <a:xfrm>
            <a:off x="493776" y="3291840"/>
            <a:ext cx="22402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reviewed one at a time, in separate tools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searched by hand in PDFs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alerts never linked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typed in Word, citations unverified</a:t>
            </a:r>
            <a:endParaRPr lang="en-US" sz="1000" dirty="0"/>
          </a:p>
          <a:p>
            <a:pPr algn="l" marL="139700" indent="-139700"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tamper-proof decision trail</a:t>
            </a:r>
            <a:endParaRPr lang="en-US" sz="1000" dirty="0"/>
          </a:p>
        </p:txBody>
      </p:sp>
      <p:sp>
        <p:nvSpPr>
          <p:cNvPr id="1023" name="Shape 23"/>
          <p:cNvSpPr/>
          <p:nvPr/>
        </p:nvSpPr>
        <p:spPr>
          <a:xfrm>
            <a:off x="2834640" y="3840480"/>
            <a:ext cx="201168" cy="274320"/>
          </a:xfrm>
          <a:prstGeom prst="rightArrow">
            <a:avLst/>
          </a:prstGeom>
          <a:solidFill>
            <a:srgbClr val="00A3E0"/>
          </a:solidFill>
          <a:ln w="6350">
            <a:solidFill>
              <a:srgbClr val="00A3E0"/>
            </a:solidFill>
            <a:prstDash val="solid"/>
          </a:ln>
        </p:spPr>
      </p:sp>
      <p:sp>
        <p:nvSpPr>
          <p:cNvPr id="1024" name="Shape 24"/>
          <p:cNvSpPr/>
          <p:nvPr/>
        </p:nvSpPr>
        <p:spPr>
          <a:xfrm>
            <a:off x="3072384" y="3035808"/>
            <a:ext cx="2286000" cy="1810512"/>
          </a:xfrm>
          <a:prstGeom prst="roundRect">
            <a:avLst>
              <a:gd name="adj" fmla="val 3030"/>
            </a:avLst>
          </a:prstGeom>
          <a:solidFill>
            <a:srgbClr val="EDF8F2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1025" name="Text 25"/>
          <p:cNvSpPr txBox="1"/>
          <p:nvPr/>
        </p:nvSpPr>
        <p:spPr>
          <a:xfrm>
            <a:off x="3163824" y="3090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SENTINELREG</a:t>
            </a:r>
            <a:endParaRPr lang="en-US" sz="900" dirty="0"/>
          </a:p>
        </p:txBody>
      </p:sp>
      <p:sp>
        <p:nvSpPr>
          <p:cNvPr id="1026" name="Text 26"/>
          <p:cNvSpPr txBox="1"/>
          <p:nvPr/>
        </p:nvSpPr>
        <p:spPr>
          <a:xfrm>
            <a:off x="3163824" y="3291840"/>
            <a:ext cx="21305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ranked by severity and live filing clock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English: SQL + cited clause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view links alerts into one scheme</a:t>
            </a:r>
            <a:endParaRPr lang="en-US" sz="100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SAR; fake citations stripped</a:t>
            </a:r>
            <a:endParaRPr lang="en-US" sz="1000" dirty="0"/>
          </a:p>
          <a:p>
            <a:pPr algn="l" marL="139700" indent="-139700">
              <a:buSzPct val="100000"/>
              <a:buChar char="•"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</a:t>
            </a:r>
            <a:endParaRPr lang="en-US" sz="1000" dirty="0"/>
          </a:p>
        </p:txBody>
      </p:sp>
      <p:sp>
        <p:nvSpPr>
          <p:cNvPr id="1027" name="Text 27"/>
          <p:cNvSpPr txBox="1"/>
          <p:nvPr/>
        </p:nvSpPr>
        <p:spPr>
          <a:xfrm>
            <a:off x="5760720" y="3035808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BFSI: AML / CFT compliance</a:t>
            </a:r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banks and NBFCs.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set different clocks: </a:t>
            </a:r>
            <a:pPr algn="l" indent="0" marL="0">
              <a:buNone/>
            </a:pPr>
            <a:r>
              <a:rPr lang="en-US" sz="10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(RBI STR)</a:t>
            </a:r>
            <a:pPr algn="l" indent="0" marL="0">
              <a:buNone/>
            </a:pPr>
            <a:r>
              <a:rPr lang="en-US" sz="10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algn="l" indent="0" marL="0">
              <a:buNone/>
            </a:pPr>
            <a:r>
              <a:rPr lang="en-US" sz="10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(FinCEN SAR)</a:t>
            </a:r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Both come from the same regulatory corpus.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RBI KYC Direction, FATF 40 Recommendations, Basel AML guidance, FinCEN BSA/AML manual.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Text 0"/>
          <p:cNvSpPr txBox="1"/>
          <p:nvPr/>
        </p:nvSpPr>
        <p:spPr>
          <a:xfrm>
            <a:off x="274320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Architecture: system design &amp; data flow</a:t>
            </a:r>
            <a:endParaRPr lang="en-US" sz="2000" dirty="0"/>
          </a:p>
        </p:txBody>
      </p:sp>
      <p:sp>
        <p:nvSpPr>
          <p:cNvPr id="1001" name="Text 1"/>
          <p:cNvSpPr txBox="1"/>
          <p:nvPr/>
        </p:nvSpPr>
        <p:spPr>
          <a:xfrm>
            <a:off x="4206240" y="548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runs inside Snowflake · data never leaves the platform</a:t>
            </a:r>
            <a:endParaRPr lang="en-US" sz="1000" dirty="0"/>
          </a:p>
        </p:txBody>
      </p:sp>
      <p:sp>
        <p:nvSpPr>
          <p:cNvPr id="1002" name="Text 2"/>
          <p:cNvSpPr txBox="1"/>
          <p:nvPr/>
        </p:nvSpPr>
        <p:spPr>
          <a:xfrm>
            <a:off x="274320" y="89611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1003" name="Text 3"/>
          <p:cNvSpPr txBox="1"/>
          <p:nvPr/>
        </p:nvSpPr>
        <p:spPr>
          <a:xfrm>
            <a:off x="2011680" y="8961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00" dirty="0"/>
          </a:p>
        </p:txBody>
      </p:sp>
      <p:sp>
        <p:nvSpPr>
          <p:cNvPr id="1004" name="Text 4"/>
          <p:cNvSpPr txBox="1"/>
          <p:nvPr/>
        </p:nvSpPr>
        <p:spPr>
          <a:xfrm>
            <a:off x="3886200" y="8961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800" dirty="0"/>
          </a:p>
        </p:txBody>
      </p:sp>
      <p:sp>
        <p:nvSpPr>
          <p:cNvPr id="1005" name="Text 5"/>
          <p:cNvSpPr txBox="1"/>
          <p:nvPr/>
        </p:nvSpPr>
        <p:spPr>
          <a:xfrm>
            <a:off x="6035040" y="89611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800" dirty="0"/>
          </a:p>
        </p:txBody>
      </p:sp>
      <p:sp>
        <p:nvSpPr>
          <p:cNvPr id="1006" name="Text 6"/>
          <p:cNvSpPr txBox="1"/>
          <p:nvPr/>
        </p:nvSpPr>
        <p:spPr>
          <a:xfrm>
            <a:off x="7635240" y="89611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1007" name="Text 7"/>
          <p:cNvSpPr txBox="1"/>
          <p:nvPr/>
        </p:nvSpPr>
        <p:spPr>
          <a:xfrm>
            <a:off x="274320" y="1069848"/>
            <a:ext cx="1600200" cy="1298448"/>
          </a:xfrm>
          <a:prstGeom prst="roundRect">
            <a:avLst>
              <a:gd name="adj" fmla="val 4225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50800" tIns="76200" rIns="76200" bIns="381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AML_ALERTS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ML_RISK_FEATURES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13 cust · 18 acct · 29 txn · 5 alerts</a:t>
            </a:r>
            <a:endParaRPr lang="en-US" sz="900" dirty="0"/>
          </a:p>
        </p:txBody>
      </p:sp>
      <p:sp>
        <p:nvSpPr>
          <p:cNvPr id="1008" name="Text 8"/>
          <p:cNvSpPr txBox="1"/>
          <p:nvPr/>
        </p:nvSpPr>
        <p:spPr>
          <a:xfrm>
            <a:off x="274320" y="2441448"/>
            <a:ext cx="1600200" cy="1078992"/>
          </a:xfrm>
          <a:prstGeom prst="roundRect">
            <a:avLst>
              <a:gd name="adj" fmla="val 5085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50800" tIns="76200" rIns="76200" bIns="381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KYC Master Direction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40 Recommendations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AML guidance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FinCEN BSA/AML manual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REGULATORY_DOCS_CHUNKS (13 clauses)</a:t>
            </a:r>
            <a:endParaRPr lang="en-US" sz="900" dirty="0"/>
          </a:p>
        </p:txBody>
      </p:sp>
      <p:sp>
        <p:nvSpPr>
          <p:cNvPr id="1009" name="Shape 9"/>
          <p:cNvSpPr/>
          <p:nvPr/>
        </p:nvSpPr>
        <p:spPr>
          <a:xfrm>
            <a:off x="2011680" y="1069848"/>
            <a:ext cx="1737360" cy="2450592"/>
          </a:xfrm>
          <a:prstGeom prst="roundRect">
            <a:avLst>
              <a:gd name="adj" fmla="val 3158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010" name="Text 10"/>
          <p:cNvSpPr txBox="1"/>
          <p:nvPr/>
        </p:nvSpPr>
        <p:spPr>
          <a:xfrm>
            <a:off x="2103120" y="11338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011" name="Text 11"/>
          <p:cNvSpPr txBox="1"/>
          <p:nvPr/>
        </p:nvSpPr>
        <p:spPr>
          <a:xfrm>
            <a:off x="2103120" y="1380744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306A"/>
          </a:solidFill>
          <a:ln w="9525">
            <a:solidFill>
              <a:srgbClr val="3F66B8"/>
            </a:solidFill>
          </a:ln>
        </p:spPr>
        <p:txBody>
          <a:bodyPr wrap="square" lIns="38100" tIns="63500" rIns="635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clauses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incl. AML_AUDIT_LOG; plain SQL / ILIKE</a:t>
            </a:r>
            <a:endParaRPr lang="en-US" sz="900" dirty="0"/>
          </a:p>
        </p:txBody>
      </p:sp>
      <p:sp>
        <p:nvSpPr>
          <p:cNvPr id="1012" name="Text 12"/>
          <p:cNvSpPr txBox="1"/>
          <p:nvPr/>
        </p:nvSpPr>
        <p:spPr>
          <a:xfrm>
            <a:off x="2103120" y="2084832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306A"/>
          </a:solidFill>
          <a:ln w="9525">
            <a:solidFill>
              <a:srgbClr val="3F66B8"/>
            </a:solidFill>
          </a:ln>
        </p:spPr>
        <p:txBody>
          <a:bodyPr wrap="square" lIns="38100" tIns="63500" rIns="635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aml_risk_model.yaml on @MODELS stage</a:t>
            </a:r>
            <a:endParaRPr lang="en-US" sz="900" dirty="0"/>
          </a:p>
        </p:txBody>
      </p:sp>
      <p:sp>
        <p:nvSpPr>
          <p:cNvPr id="1013" name="Text 13"/>
          <p:cNvSpPr txBox="1"/>
          <p:nvPr/>
        </p:nvSpPr>
        <p:spPr>
          <a:xfrm>
            <a:off x="2103120" y="27889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306A"/>
          </a:solidFill>
          <a:ln w="9525">
            <a:solidFill>
              <a:srgbClr val="3F66B8"/>
            </a:solidFill>
          </a:ln>
        </p:spPr>
        <p:txBody>
          <a:bodyPr wrap="square" lIns="38100" tIns="63500" rIns="635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session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SENTINEL_REG_ROLE · SENTINEL_REG_WH · bound params</a:t>
            </a:r>
            <a:endParaRPr lang="en-US" sz="900" dirty="0"/>
          </a:p>
        </p:txBody>
      </p:sp>
      <p:sp>
        <p:nvSpPr>
          <p:cNvPr id="1014" name="Text 14"/>
          <p:cNvSpPr txBox="1"/>
          <p:nvPr/>
        </p:nvSpPr>
        <p:spPr>
          <a:xfrm>
            <a:off x="3886200" y="106984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typologies: structuring, velocity, round-trip, cash, fan-out</a:t>
            </a:r>
            <a:endParaRPr lang="en-US" sz="900" dirty="0"/>
          </a:p>
        </p:txBody>
      </p:sp>
      <p:sp>
        <p:nvSpPr>
          <p:cNvPr id="1015" name="Text 15"/>
          <p:cNvSpPr txBox="1"/>
          <p:nvPr/>
        </p:nvSpPr>
        <p:spPr>
          <a:xfrm>
            <a:off x="3886200" y="157276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model → COMPUTED_RISK_SCORE</a:t>
            </a:r>
            <a:endParaRPr lang="en-US" sz="900" dirty="0"/>
          </a:p>
        </p:txBody>
      </p:sp>
      <p:sp>
        <p:nvSpPr>
          <p:cNvPr id="1016" name="Text 16"/>
          <p:cNvSpPr txBox="1"/>
          <p:nvPr/>
        </p:nvSpPr>
        <p:spPr>
          <a:xfrm>
            <a:off x="3886200" y="207568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SQL, SQL shown to user</a:t>
            </a:r>
            <a:endParaRPr lang="en-US" sz="900" dirty="0"/>
          </a:p>
        </p:txBody>
      </p:sp>
      <p:sp>
        <p:nvSpPr>
          <p:cNvPr id="1017" name="Text 17"/>
          <p:cNvSpPr txBox="1"/>
          <p:nvPr/>
        </p:nvSpPr>
        <p:spPr>
          <a:xfrm>
            <a:off x="3886200" y="257860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COMPLETE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SAR narrative from case facts</a:t>
            </a:r>
            <a:endParaRPr lang="en-US" sz="900" dirty="0"/>
          </a:p>
        </p:txBody>
      </p:sp>
      <p:sp>
        <p:nvSpPr>
          <p:cNvPr id="1018" name="Text 18"/>
          <p:cNvSpPr txBox="1"/>
          <p:nvPr/>
        </p:nvSpPr>
        <p:spPr>
          <a:xfrm>
            <a:off x="3886200" y="30815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FFF6E5"/>
          </a:solidFill>
          <a:ln w="9525">
            <a:solidFill>
              <a:srgbClr val="E0A93B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guardrail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any clause ID not in REGULATORY_DOCS_CHUNKS</a:t>
            </a:r>
            <a:endParaRPr lang="en-US" sz="900" dirty="0"/>
          </a:p>
        </p:txBody>
      </p:sp>
      <p:sp>
        <p:nvSpPr>
          <p:cNvPr id="1019" name="Text 19"/>
          <p:cNvSpPr txBox="1"/>
          <p:nvPr/>
        </p:nvSpPr>
        <p:spPr>
          <a:xfrm>
            <a:off x="6035040" y="1069848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1020" name="Text 20"/>
          <p:cNvSpPr txBox="1"/>
          <p:nvPr/>
        </p:nvSpPr>
        <p:spPr>
          <a:xfrm>
            <a:off x="6035040" y="1382687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900" dirty="0"/>
          </a:p>
        </p:txBody>
      </p:sp>
      <p:sp>
        <p:nvSpPr>
          <p:cNvPr id="1021" name="Text 21"/>
          <p:cNvSpPr txBox="1"/>
          <p:nvPr/>
        </p:nvSpPr>
        <p:spPr>
          <a:xfrm>
            <a:off x="6035040" y="1695526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Copilot</a:t>
            </a:r>
            <a:endParaRPr lang="en-US" sz="900" dirty="0"/>
          </a:p>
        </p:txBody>
      </p:sp>
      <p:sp>
        <p:nvSpPr>
          <p:cNvPr id="1022" name="Text 22"/>
          <p:cNvSpPr txBox="1"/>
          <p:nvPr/>
        </p:nvSpPr>
        <p:spPr>
          <a:xfrm>
            <a:off x="6035040" y="2008365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360</a:t>
            </a:r>
            <a:endParaRPr lang="en-US" sz="900" dirty="0"/>
          </a:p>
        </p:txBody>
      </p:sp>
      <p:sp>
        <p:nvSpPr>
          <p:cNvPr id="1023" name="Text 23"/>
          <p:cNvSpPr txBox="1"/>
          <p:nvPr/>
        </p:nvSpPr>
        <p:spPr>
          <a:xfrm>
            <a:off x="6035040" y="2321204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</a:t>
            </a:r>
            <a:endParaRPr lang="en-US" sz="900" dirty="0"/>
          </a:p>
        </p:txBody>
      </p:sp>
      <p:sp>
        <p:nvSpPr>
          <p:cNvPr id="1024" name="Text 24"/>
          <p:cNvSpPr txBox="1"/>
          <p:nvPr/>
        </p:nvSpPr>
        <p:spPr>
          <a:xfrm>
            <a:off x="6035040" y="2634044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Library</a:t>
            </a:r>
            <a:endParaRPr lang="en-US" sz="900" dirty="0"/>
          </a:p>
        </p:txBody>
      </p:sp>
      <p:sp>
        <p:nvSpPr>
          <p:cNvPr id="1025" name="Text 25"/>
          <p:cNvSpPr txBox="1"/>
          <p:nvPr/>
        </p:nvSpPr>
        <p:spPr>
          <a:xfrm>
            <a:off x="6035040" y="2946883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Generator</a:t>
            </a:r>
            <a:endParaRPr lang="en-US" sz="900" dirty="0"/>
          </a:p>
        </p:txBody>
      </p:sp>
      <p:sp>
        <p:nvSpPr>
          <p:cNvPr id="1026" name="Text 26"/>
          <p:cNvSpPr txBox="1"/>
          <p:nvPr/>
        </p:nvSpPr>
        <p:spPr>
          <a:xfrm>
            <a:off x="6035040" y="3259722"/>
            <a:ext cx="1463040" cy="260718"/>
          </a:xfrm>
          <a:prstGeom prst="roundRect">
            <a:avLst>
              <a:gd name="adj" fmla="val 17536"/>
            </a:avLst>
          </a:prstGeom>
          <a:solidFill>
            <a:srgbClr val="EEF2FF"/>
          </a:solidFill>
          <a:ln w="9525">
            <a:solidFill>
              <a:srgbClr val="1F4FD8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027" name="Text 27"/>
          <p:cNvSpPr txBox="1"/>
          <p:nvPr/>
        </p:nvSpPr>
        <p:spPr>
          <a:xfrm>
            <a:off x="7635240" y="1069848"/>
            <a:ext cx="1234440" cy="566699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5875">
            <a:solidFill>
              <a:srgbClr val="1F4FD8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 alerts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filing clocks</a:t>
            </a:r>
            <a:endParaRPr lang="en-US" sz="900" dirty="0"/>
          </a:p>
        </p:txBody>
      </p:sp>
      <p:sp>
        <p:nvSpPr>
          <p:cNvPr id="1028" name="Text 28"/>
          <p:cNvSpPr txBox="1"/>
          <p:nvPr/>
        </p:nvSpPr>
        <p:spPr>
          <a:xfrm>
            <a:off x="7635240" y="1697812"/>
            <a:ext cx="1234440" cy="566699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5875">
            <a:solidFill>
              <a:srgbClr val="1F4FD8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clause ID</a:t>
            </a:r>
            <a:endParaRPr lang="en-US" sz="900" dirty="0"/>
          </a:p>
        </p:txBody>
      </p:sp>
      <p:sp>
        <p:nvSpPr>
          <p:cNvPr id="1029" name="Text 29"/>
          <p:cNvSpPr txBox="1"/>
          <p:nvPr/>
        </p:nvSpPr>
        <p:spPr>
          <a:xfrm>
            <a:off x="7635240" y="2325776"/>
            <a:ext cx="1234440" cy="566699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5875">
            <a:solidFill>
              <a:srgbClr val="1F4FD8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PDF + evidence zip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manifest</a:t>
            </a:r>
            <a:endParaRPr lang="en-US" sz="900" dirty="0"/>
          </a:p>
        </p:txBody>
      </p:sp>
      <p:sp>
        <p:nvSpPr>
          <p:cNvPr id="1030" name="Text 30"/>
          <p:cNvSpPr txBox="1"/>
          <p:nvPr/>
        </p:nvSpPr>
        <p:spPr>
          <a:xfrm>
            <a:off x="7635240" y="2953741"/>
            <a:ext cx="1234440" cy="566699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5875">
            <a:solidFill>
              <a:srgbClr val="1F4FD8"/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tamper-evident</a:t>
            </a:r>
            <a:endParaRPr lang="en-US" sz="900" dirty="0"/>
          </a:p>
        </p:txBody>
      </p:sp>
      <p:sp>
        <p:nvSpPr>
          <p:cNvPr id="1031" name="Shape 31"/>
          <p:cNvSpPr/>
          <p:nvPr/>
        </p:nvSpPr>
        <p:spPr>
          <a:xfrm>
            <a:off x="1874520" y="2295144"/>
            <a:ext cx="137160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32" name="Shape 32"/>
          <p:cNvSpPr/>
          <p:nvPr/>
        </p:nvSpPr>
        <p:spPr>
          <a:xfrm>
            <a:off x="3749040" y="2295144"/>
            <a:ext cx="137160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33" name="Shape 33"/>
          <p:cNvSpPr/>
          <p:nvPr/>
        </p:nvSpPr>
        <p:spPr>
          <a:xfrm>
            <a:off x="5897880" y="2295144"/>
            <a:ext cx="137160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34" name="Shape 34"/>
          <p:cNvSpPr/>
          <p:nvPr/>
        </p:nvSpPr>
        <p:spPr>
          <a:xfrm>
            <a:off x="7498080" y="2295144"/>
            <a:ext cx="137160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35" name="Shape 35"/>
          <p:cNvSpPr/>
          <p:nvPr/>
        </p:nvSpPr>
        <p:spPr>
          <a:xfrm>
            <a:off x="2880360" y="3657600"/>
            <a:ext cx="3886200" cy="0"/>
          </a:xfrm>
          <a:prstGeom prst="line">
            <a:avLst/>
          </a:prstGeom>
          <a:noFill/>
          <a:ln w="15875">
            <a:solidFill>
              <a:srgbClr val="00A3E0"/>
            </a:solidFill>
            <a:prstDash val="dash"/>
          </a:ln>
        </p:spPr>
      </p:sp>
      <p:sp>
        <p:nvSpPr>
          <p:cNvPr id="1036" name="Shape 36"/>
          <p:cNvSpPr/>
          <p:nvPr/>
        </p:nvSpPr>
        <p:spPr>
          <a:xfrm>
            <a:off x="6766560" y="3520440"/>
            <a:ext cx="0" cy="137160"/>
          </a:xfrm>
          <a:prstGeom prst="line">
            <a:avLst/>
          </a:prstGeom>
          <a:noFill/>
          <a:ln w="15875">
            <a:solidFill>
              <a:srgbClr val="00A3E0"/>
            </a:solidFill>
            <a:prstDash val="dash"/>
          </a:ln>
        </p:spPr>
      </p:sp>
      <p:sp>
        <p:nvSpPr>
          <p:cNvPr id="1037" name="Shape 37"/>
          <p:cNvSpPr/>
          <p:nvPr/>
        </p:nvSpPr>
        <p:spPr>
          <a:xfrm flipV="1">
            <a:off x="2880360" y="3520440"/>
            <a:ext cx="0" cy="137160"/>
          </a:xfrm>
          <a:prstGeom prst="line">
            <a:avLst/>
          </a:prstGeom>
          <a:noFill/>
          <a:ln w="19050">
            <a:solidFill>
              <a:srgbClr val="00A3E0"/>
            </a:solidFill>
            <a:prstDash val="dash"/>
            <a:tailEnd type="triangle"/>
          </a:ln>
        </p:spPr>
      </p:sp>
      <p:sp>
        <p:nvSpPr>
          <p:cNvPr id="1038" name="Shape 38"/>
          <p:cNvSpPr/>
          <p:nvPr/>
        </p:nvSpPr>
        <p:spPr>
          <a:xfrm>
            <a:off x="3383280" y="3575304"/>
            <a:ext cx="292608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00A3E0"/>
            </a:solidFill>
            <a:prstDash val="solid"/>
          </a:ln>
        </p:spPr>
      </p:sp>
      <p:sp>
        <p:nvSpPr>
          <p:cNvPr id="1039" name="Text 39"/>
          <p:cNvSpPr txBox="1"/>
          <p:nvPr/>
        </p:nvSpPr>
        <p:spPr>
          <a:xfrm>
            <a:off x="3383280" y="35753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write-back: dispositions · SAR filed · audit events</a:t>
            </a:r>
            <a:endParaRPr lang="en-US" sz="750" dirty="0"/>
          </a:p>
        </p:txBody>
      </p:sp>
      <p:sp>
        <p:nvSpPr>
          <p:cNvPr id="1040" name="Shape 40"/>
          <p:cNvSpPr/>
          <p:nvPr/>
        </p:nvSpPr>
        <p:spPr>
          <a:xfrm>
            <a:off x="274320" y="3840480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6F9FC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41" name="Text 41"/>
          <p:cNvSpPr txBox="1"/>
          <p:nvPr/>
        </p:nvSpPr>
        <p:spPr>
          <a:xfrm>
            <a:off x="384048" y="3886200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CLI SKILLS  (.coco/skills + AGENTS.md)</a:t>
            </a:r>
            <a:endParaRPr lang="en-US" sz="800" dirty="0"/>
          </a:p>
        </p:txBody>
      </p:sp>
      <p:sp>
        <p:nvSpPr>
          <p:cNvPr id="1042" name="Text 42"/>
          <p:cNvSpPr txBox="1"/>
          <p:nvPr/>
        </p:nvSpPr>
        <p:spPr>
          <a:xfrm>
            <a:off x="384048" y="4069080"/>
            <a:ext cx="1572768" cy="164592"/>
          </a:xfrm>
          <a:prstGeom prst="roundRect">
            <a:avLst>
              <a:gd name="adj" fmla="val 22222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investigate-aml-account</a:t>
            </a:r>
            <a:endParaRPr lang="en-US" sz="900" dirty="0"/>
          </a:p>
        </p:txBody>
      </p:sp>
      <p:sp>
        <p:nvSpPr>
          <p:cNvPr id="1043" name="Shape 43"/>
          <p:cNvSpPr/>
          <p:nvPr/>
        </p:nvSpPr>
        <p:spPr>
          <a:xfrm>
            <a:off x="1984248" y="4146804"/>
            <a:ext cx="210312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44" name="Text 44"/>
          <p:cNvSpPr txBox="1"/>
          <p:nvPr/>
        </p:nvSpPr>
        <p:spPr>
          <a:xfrm>
            <a:off x="2240280" y="4069080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Copilot · Entity 360 · Network</a:t>
            </a:r>
            <a:endParaRPr lang="en-US" sz="800" dirty="0"/>
          </a:p>
        </p:txBody>
      </p:sp>
      <p:sp>
        <p:nvSpPr>
          <p:cNvPr id="1045" name="Text 45"/>
          <p:cNvSpPr txBox="1"/>
          <p:nvPr/>
        </p:nvSpPr>
        <p:spPr>
          <a:xfrm>
            <a:off x="384048" y="4251960"/>
            <a:ext cx="1572768" cy="164592"/>
          </a:xfrm>
          <a:prstGeom prst="roundRect">
            <a:avLst>
              <a:gd name="adj" fmla="val 22222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generate-sar-report</a:t>
            </a:r>
            <a:endParaRPr lang="en-US" sz="900" dirty="0"/>
          </a:p>
        </p:txBody>
      </p:sp>
      <p:sp>
        <p:nvSpPr>
          <p:cNvPr id="1046" name="Shape 46"/>
          <p:cNvSpPr/>
          <p:nvPr/>
        </p:nvSpPr>
        <p:spPr>
          <a:xfrm>
            <a:off x="1984248" y="4329684"/>
            <a:ext cx="210312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47" name="Text 47"/>
          <p:cNvSpPr txBox="1"/>
          <p:nvPr/>
        </p:nvSpPr>
        <p:spPr>
          <a:xfrm>
            <a:off x="2240280" y="4251960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Generator (narrative, PDF, evidence zip)</a:t>
            </a:r>
            <a:endParaRPr lang="en-US" sz="800" dirty="0"/>
          </a:p>
        </p:txBody>
      </p:sp>
      <p:sp>
        <p:nvSpPr>
          <p:cNvPr id="1048" name="Text 48"/>
          <p:cNvSpPr txBox="1"/>
          <p:nvPr/>
        </p:nvSpPr>
        <p:spPr>
          <a:xfrm>
            <a:off x="384048" y="4434840"/>
            <a:ext cx="1572768" cy="164592"/>
          </a:xfrm>
          <a:prstGeom prst="roundRect">
            <a:avLst>
              <a:gd name="adj" fmla="val 22222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score-fraud-risk</a:t>
            </a:r>
            <a:endParaRPr lang="en-US" sz="900" dirty="0"/>
          </a:p>
        </p:txBody>
      </p:sp>
      <p:sp>
        <p:nvSpPr>
          <p:cNvPr id="1049" name="Shape 49"/>
          <p:cNvSpPr/>
          <p:nvPr/>
        </p:nvSpPr>
        <p:spPr>
          <a:xfrm>
            <a:off x="1984248" y="4512564"/>
            <a:ext cx="210312" cy="0"/>
          </a:xfrm>
          <a:prstGeom prst="line">
            <a:avLst/>
          </a:prstGeom>
          <a:noFill/>
          <a:ln w="19050">
            <a:solidFill>
              <a:srgbClr val="1F4FD8"/>
            </a:solidFill>
            <a:prstDash val="solid"/>
            <a:tailEnd type="triangle"/>
          </a:ln>
        </p:spPr>
      </p:sp>
      <p:sp>
        <p:nvSpPr>
          <p:cNvPr id="1050" name="Text 50"/>
          <p:cNvSpPr txBox="1"/>
          <p:nvPr/>
        </p:nvSpPr>
        <p:spPr>
          <a:xfrm>
            <a:off x="2240280" y="4434840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ML tab · Alert Triage reason codes</a:t>
            </a:r>
            <a:endParaRPr lang="en-US" sz="800" dirty="0"/>
          </a:p>
        </p:txBody>
      </p:sp>
      <p:sp>
        <p:nvSpPr>
          <p:cNvPr id="1051" name="Text 51"/>
          <p:cNvSpPr txBox="1"/>
          <p:nvPr/>
        </p:nvSpPr>
        <p:spPr>
          <a:xfrm>
            <a:off x="384048" y="4626864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gives CoCo CLI the repo map, conventions and the rule: never fabricate a citation.</a:t>
            </a:r>
            <a:endParaRPr lang="en-US" sz="750" dirty="0"/>
          </a:p>
        </p:txBody>
      </p:sp>
      <p:sp>
        <p:nvSpPr>
          <p:cNvPr id="1052" name="Shape 52"/>
          <p:cNvSpPr/>
          <p:nvPr/>
        </p:nvSpPr>
        <p:spPr>
          <a:xfrm>
            <a:off x="5532120" y="3840480"/>
            <a:ext cx="3337560" cy="932688"/>
          </a:xfrm>
          <a:prstGeom prst="roundRect">
            <a:avLst>
              <a:gd name="adj" fmla="val 5882"/>
            </a:avLst>
          </a:prstGeom>
          <a:solidFill>
            <a:srgbClr val="F6F9FC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53" name="Text 53"/>
          <p:cNvSpPr txBox="1"/>
          <p:nvPr/>
        </p:nvSpPr>
        <p:spPr>
          <a:xfrm>
            <a:off x="5641848" y="3886200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800" dirty="0"/>
          </a:p>
        </p:txBody>
      </p:sp>
      <p:sp>
        <p:nvSpPr>
          <p:cNvPr id="1054" name="Shape 54"/>
          <p:cNvSpPr/>
          <p:nvPr/>
        </p:nvSpPr>
        <p:spPr>
          <a:xfrm>
            <a:off x="5641848" y="4078224"/>
            <a:ext cx="118872" cy="118872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55" name="Text 55"/>
          <p:cNvSpPr txBox="1"/>
          <p:nvPr/>
        </p:nvSpPr>
        <p:spPr>
          <a:xfrm>
            <a:off x="5641848" y="407822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056" name="Text 56"/>
          <p:cNvSpPr txBox="1"/>
          <p:nvPr/>
        </p:nvSpPr>
        <p:spPr>
          <a:xfrm>
            <a:off x="5824728" y="406908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regulatory text land in Snowflake</a:t>
            </a:r>
            <a:endParaRPr lang="en-US" sz="750" dirty="0"/>
          </a:p>
        </p:txBody>
      </p:sp>
      <p:sp>
        <p:nvSpPr>
          <p:cNvPr id="1057" name="Shape 57"/>
          <p:cNvSpPr/>
          <p:nvPr/>
        </p:nvSpPr>
        <p:spPr>
          <a:xfrm>
            <a:off x="5641848" y="4217213"/>
            <a:ext cx="118872" cy="118872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58" name="Text 58"/>
          <p:cNvSpPr txBox="1"/>
          <p:nvPr/>
        </p:nvSpPr>
        <p:spPr>
          <a:xfrm>
            <a:off x="5641848" y="421721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059" name="Text 59"/>
          <p:cNvSpPr txBox="1"/>
          <p:nvPr/>
        </p:nvSpPr>
        <p:spPr>
          <a:xfrm>
            <a:off x="5824728" y="4208069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Snowpark ML score raise alerts</a:t>
            </a:r>
            <a:endParaRPr lang="en-US" sz="750" dirty="0"/>
          </a:p>
        </p:txBody>
      </p:sp>
      <p:sp>
        <p:nvSpPr>
          <p:cNvPr id="1060" name="Shape 60"/>
          <p:cNvSpPr/>
          <p:nvPr/>
        </p:nvSpPr>
        <p:spPr>
          <a:xfrm>
            <a:off x="5641848" y="4356202"/>
            <a:ext cx="118872" cy="118872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61" name="Text 61"/>
          <p:cNvSpPr txBox="1"/>
          <p:nvPr/>
        </p:nvSpPr>
        <p:spPr>
          <a:xfrm>
            <a:off x="5641848" y="435620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1062" name="Text 62"/>
          <p:cNvSpPr txBox="1"/>
          <p:nvPr/>
        </p:nvSpPr>
        <p:spPr>
          <a:xfrm>
            <a:off x="5824728" y="434705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turns questions into SQL</a:t>
            </a:r>
            <a:endParaRPr lang="en-US" sz="750" dirty="0"/>
          </a:p>
        </p:txBody>
      </p:sp>
      <p:sp>
        <p:nvSpPr>
          <p:cNvPr id="1063" name="Shape 63"/>
          <p:cNvSpPr/>
          <p:nvPr/>
        </p:nvSpPr>
        <p:spPr>
          <a:xfrm>
            <a:off x="5641848" y="4495190"/>
            <a:ext cx="118872" cy="118872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64" name="Text 64"/>
          <p:cNvSpPr txBox="1"/>
          <p:nvPr/>
        </p:nvSpPr>
        <p:spPr>
          <a:xfrm>
            <a:off x="5641848" y="449519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1065" name="Text 65"/>
          <p:cNvSpPr txBox="1"/>
          <p:nvPr/>
        </p:nvSpPr>
        <p:spPr>
          <a:xfrm>
            <a:off x="5824728" y="4486046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drafts → guardrail → PDF</a:t>
            </a:r>
            <a:endParaRPr lang="en-US" sz="750" dirty="0"/>
          </a:p>
        </p:txBody>
      </p:sp>
      <p:sp>
        <p:nvSpPr>
          <p:cNvPr id="1066" name="Shape 66"/>
          <p:cNvSpPr/>
          <p:nvPr/>
        </p:nvSpPr>
        <p:spPr>
          <a:xfrm>
            <a:off x="5641848" y="4634179"/>
            <a:ext cx="118872" cy="118872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67" name="Text 67"/>
          <p:cNvSpPr txBox="1"/>
          <p:nvPr/>
        </p:nvSpPr>
        <p:spPr>
          <a:xfrm>
            <a:off x="5641848" y="463417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1068" name="Text 68"/>
          <p:cNvSpPr txBox="1"/>
          <p:nvPr/>
        </p:nvSpPr>
        <p:spPr>
          <a:xfrm>
            <a:off x="5824728" y="4625035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SHA-256 chained</a:t>
            </a:r>
            <a:endParaRPr lang="en-US" sz="750" dirty="0"/>
          </a:p>
        </p:txBody>
      </p:sp>
      <p:sp>
        <p:nvSpPr>
          <p:cNvPr id="1069" name="Text 69"/>
          <p:cNvSpPr txBox="1"/>
          <p:nvPr/>
        </p:nvSpPr>
        <p:spPr>
          <a:xfrm>
            <a:off x="274320" y="4828032"/>
            <a:ext cx="8595360" cy="182880"/>
          </a:xfrm>
          <a:prstGeom prst="roundRect">
            <a:avLst>
              <a:gd name="adj" fmla="val 20000"/>
            </a:avLst>
          </a:prstGeom>
          <a:solidFill>
            <a:srgbClr val="EAF6FD"/>
          </a:solidFill>
          <a:ln w="9525">
            <a:solidFill>
              <a:srgbClr val="00A3E0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</a:t>
            </a:r>
            <a:pPr algn="l" indent="0" marL="0">
              <a:buNone/>
            </a:pPr>
            <a:r>
              <a:rPr lang="en-US" sz="7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utils/data.py is the single data layer (live Snowflake ⇄ offline demo snapshot, same shapes) · detectors, narrative, PDF, network and audit are independent modules · 25 automated tests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Text 0"/>
          <p:cNvSpPr txBox="1"/>
          <p:nvPr/>
        </p:nvSpPr>
        <p:spPr>
          <a:xfrm>
            <a:off x="274320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MVP Brief</a:t>
            </a:r>
            <a:endParaRPr lang="en-US" sz="2000" dirty="0"/>
          </a:p>
        </p:txBody>
      </p:sp>
      <p:sp>
        <p:nvSpPr>
          <p:cNvPr id="1001" name="Text 1"/>
          <p:cNvSpPr txBox="1"/>
          <p:nvPr/>
        </p:nvSpPr>
        <p:spPr>
          <a:xfrm>
            <a:off x="4206240" y="548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app, deployed and tested</a:t>
            </a:r>
            <a:endParaRPr lang="en-US" sz="1000" dirty="0"/>
          </a:p>
        </p:txBody>
      </p:sp>
      <p:sp>
        <p:nvSpPr>
          <p:cNvPr id="1002" name="Shape 2"/>
          <p:cNvSpPr/>
          <p:nvPr/>
        </p:nvSpPr>
        <p:spPr>
          <a:xfrm>
            <a:off x="274320" y="960120"/>
            <a:ext cx="4114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03" name="Text 3"/>
          <p:cNvSpPr txBox="1"/>
          <p:nvPr/>
        </p:nvSpPr>
        <p:spPr>
          <a:xfrm>
            <a:off x="420624" y="1033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300" dirty="0"/>
          </a:p>
        </p:txBody>
      </p:sp>
      <p:sp>
        <p:nvSpPr>
          <p:cNvPr id="1004" name="Text 4"/>
          <p:cNvSpPr txBox="1"/>
          <p:nvPr/>
        </p:nvSpPr>
        <p:spPr>
          <a:xfrm>
            <a:off x="420624" y="137160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1005" name="Text 5"/>
          <p:cNvSpPr txBox="1"/>
          <p:nvPr/>
        </p:nvSpPr>
        <p:spPr>
          <a:xfrm>
            <a:off x="1920240" y="13716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priority queue, filing clocks</a:t>
            </a:r>
            <a:endParaRPr lang="en-US" sz="1000" dirty="0"/>
          </a:p>
        </p:txBody>
      </p:sp>
      <p:sp>
        <p:nvSpPr>
          <p:cNvPr id="1006" name="Text 6"/>
          <p:cNvSpPr txBox="1"/>
          <p:nvPr/>
        </p:nvSpPr>
        <p:spPr>
          <a:xfrm>
            <a:off x="420624" y="17373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900" dirty="0"/>
          </a:p>
        </p:txBody>
      </p:sp>
      <p:sp>
        <p:nvSpPr>
          <p:cNvPr id="1007" name="Text 7"/>
          <p:cNvSpPr txBox="1"/>
          <p:nvPr/>
        </p:nvSpPr>
        <p:spPr>
          <a:xfrm>
            <a:off x="1920240" y="17373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dispositions written back; rules + ML tabs</a:t>
            </a:r>
            <a:endParaRPr lang="en-US" sz="1000" dirty="0"/>
          </a:p>
        </p:txBody>
      </p:sp>
      <p:sp>
        <p:nvSpPr>
          <p:cNvPr id="1008" name="Text 8"/>
          <p:cNvSpPr txBox="1"/>
          <p:nvPr/>
        </p:nvSpPr>
        <p:spPr>
          <a:xfrm>
            <a:off x="420624" y="210312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Copilot</a:t>
            </a:r>
            <a:endParaRPr lang="en-US" sz="900" dirty="0"/>
          </a:p>
        </p:txBody>
      </p:sp>
      <p:sp>
        <p:nvSpPr>
          <p:cNvPr id="1009" name="Text 9"/>
          <p:cNvSpPr txBox="1"/>
          <p:nvPr/>
        </p:nvSpPr>
        <p:spPr>
          <a:xfrm>
            <a:off x="1920240" y="21031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Q&amp;A with SQL shown</a:t>
            </a:r>
            <a:endParaRPr lang="en-US" sz="1000" dirty="0"/>
          </a:p>
        </p:txBody>
      </p:sp>
      <p:sp>
        <p:nvSpPr>
          <p:cNvPr id="1010" name="Text 10"/>
          <p:cNvSpPr txBox="1"/>
          <p:nvPr/>
        </p:nvSpPr>
        <p:spPr>
          <a:xfrm>
            <a:off x="420624" y="246888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360</a:t>
            </a:r>
            <a:endParaRPr lang="en-US" sz="900" dirty="0"/>
          </a:p>
        </p:txBody>
      </p:sp>
      <p:sp>
        <p:nvSpPr>
          <p:cNvPr id="1011" name="Text 11"/>
          <p:cNvSpPr txBox="1"/>
          <p:nvPr/>
        </p:nvSpPr>
        <p:spPr>
          <a:xfrm>
            <a:off x="1920240" y="24688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accounts, risk drivers, 2-hop flow</a:t>
            </a:r>
            <a:endParaRPr lang="en-US" sz="1000" dirty="0"/>
          </a:p>
        </p:txBody>
      </p:sp>
      <p:sp>
        <p:nvSpPr>
          <p:cNvPr id="1012" name="Text 12"/>
          <p:cNvSpPr txBox="1"/>
          <p:nvPr/>
        </p:nvSpPr>
        <p:spPr>
          <a:xfrm>
            <a:off x="420624" y="283464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</a:t>
            </a:r>
            <a:endParaRPr lang="en-US" sz="900" dirty="0"/>
          </a:p>
        </p:txBody>
      </p:sp>
      <p:sp>
        <p:nvSpPr>
          <p:cNvPr id="1013" name="Text 13"/>
          <p:cNvSpPr txBox="1"/>
          <p:nvPr/>
        </p:nvSpPr>
        <p:spPr>
          <a:xfrm>
            <a:off x="1920240" y="2834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fund-flow rings link alerts</a:t>
            </a:r>
            <a:endParaRPr lang="en-US" sz="1000" dirty="0"/>
          </a:p>
        </p:txBody>
      </p:sp>
      <p:sp>
        <p:nvSpPr>
          <p:cNvPr id="1014" name="Text 14"/>
          <p:cNvSpPr txBox="1"/>
          <p:nvPr/>
        </p:nvSpPr>
        <p:spPr>
          <a:xfrm>
            <a:off x="420624" y="320040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Library</a:t>
            </a:r>
            <a:endParaRPr lang="en-US" sz="900" dirty="0"/>
          </a:p>
        </p:txBody>
      </p:sp>
      <p:sp>
        <p:nvSpPr>
          <p:cNvPr id="1015" name="Text 15"/>
          <p:cNvSpPr txBox="1"/>
          <p:nvPr/>
        </p:nvSpPr>
        <p:spPr>
          <a:xfrm>
            <a:off x="1920240" y="32004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search over 13 clauses</a:t>
            </a:r>
            <a:endParaRPr lang="en-US" sz="1000" dirty="0"/>
          </a:p>
        </p:txBody>
      </p:sp>
      <p:sp>
        <p:nvSpPr>
          <p:cNvPr id="1016" name="Text 16"/>
          <p:cNvSpPr txBox="1"/>
          <p:nvPr/>
        </p:nvSpPr>
        <p:spPr>
          <a:xfrm>
            <a:off x="420624" y="3566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Generator</a:t>
            </a:r>
            <a:endParaRPr lang="en-US" sz="900" dirty="0"/>
          </a:p>
        </p:txBody>
      </p:sp>
      <p:sp>
        <p:nvSpPr>
          <p:cNvPr id="1017" name="Text 17"/>
          <p:cNvSpPr txBox="1"/>
          <p:nvPr/>
        </p:nvSpPr>
        <p:spPr>
          <a:xfrm>
            <a:off x="1920240" y="35661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narrative, PDF, evidence zip</a:t>
            </a:r>
            <a:endParaRPr lang="en-US" sz="1000" dirty="0"/>
          </a:p>
        </p:txBody>
      </p:sp>
      <p:sp>
        <p:nvSpPr>
          <p:cNvPr id="1018" name="Text 18"/>
          <p:cNvSpPr txBox="1"/>
          <p:nvPr/>
        </p:nvSpPr>
        <p:spPr>
          <a:xfrm>
            <a:off x="420624" y="393192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A1F44"/>
          </a:solidFill>
          <a:ln w="9525">
            <a:solidFill>
              <a:srgbClr val="0A1F44"/>
            </a:solidFill>
          </a:ln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019" name="Text 19"/>
          <p:cNvSpPr txBox="1"/>
          <p:nvPr/>
        </p:nvSpPr>
        <p:spPr>
          <a:xfrm>
            <a:off x="1920240" y="39319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chain with tamper check</a:t>
            </a:r>
            <a:endParaRPr lang="en-US" sz="1000" dirty="0"/>
          </a:p>
        </p:txBody>
      </p:sp>
      <p:sp>
        <p:nvSpPr>
          <p:cNvPr id="1020" name="Text 20"/>
          <p:cNvSpPr txBox="1"/>
          <p:nvPr/>
        </p:nvSpPr>
        <p:spPr>
          <a:xfrm>
            <a:off x="420624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Cortex Analyst · Cortex COMPLETE · Snowpark ML · Streamlit · CoCo CLI skills</a:t>
            </a:r>
            <a:endParaRPr lang="en-US" sz="950" dirty="0"/>
          </a:p>
        </p:txBody>
      </p:sp>
      <p:sp>
        <p:nvSpPr>
          <p:cNvPr id="1021" name="Shape 21"/>
          <p:cNvSpPr/>
          <p:nvPr/>
        </p:nvSpPr>
        <p:spPr>
          <a:xfrm>
            <a:off x="4535424" y="3218688"/>
            <a:ext cx="4334256" cy="777240"/>
          </a:xfrm>
          <a:prstGeom prst="roundRect">
            <a:avLst>
              <a:gd name="adj" fmla="val 7059"/>
            </a:avLst>
          </a:prstGeom>
          <a:solidFill>
            <a:srgbClr val="EAF6FD"/>
          </a:solidFill>
          <a:ln w="9525">
            <a:solidFill>
              <a:srgbClr val="00A3E0"/>
            </a:solidFill>
            <a:prstDash val="solid"/>
          </a:ln>
        </p:spPr>
      </p:sp>
      <p:sp>
        <p:nvSpPr>
          <p:cNvPr id="1022" name="Text 22"/>
          <p:cNvSpPr txBox="1"/>
          <p:nvPr/>
        </p:nvSpPr>
        <p:spPr>
          <a:xfrm>
            <a:off x="4645152" y="32644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deployed link</a:t>
            </a:r>
            <a:endParaRPr lang="en-US" sz="850" dirty="0"/>
          </a:p>
        </p:txBody>
      </p:sp>
      <p:sp>
        <p:nvSpPr>
          <p:cNvPr id="1023" name="Text 23"/>
          <p:cNvSpPr txBox="1"/>
          <p:nvPr/>
        </p:nvSpPr>
        <p:spPr>
          <a:xfrm>
            <a:off x="4645152" y="34472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https://coco-cli-kfjwzafq5ousz6uqd7r6vc.streamlit.app</a:t>
            </a:r>
            <a:endParaRPr lang="en-US" sz="1200" dirty="0"/>
          </a:p>
        </p:txBody>
      </p:sp>
      <p:sp>
        <p:nvSpPr>
          <p:cNvPr id="1024" name="Text 24"/>
          <p:cNvSpPr txBox="1"/>
          <p:nvPr/>
        </p:nvSpPr>
        <p:spPr>
          <a:xfrm>
            <a:off x="4645152" y="3685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github.com/avanishkasar/coco-cli</a:t>
            </a:r>
            <a:endParaRPr lang="en-US" sz="1000" dirty="0"/>
          </a:p>
        </p:txBody>
      </p:sp>
      <p:sp>
        <p:nvSpPr>
          <p:cNvPr id="1025" name="Shape 25"/>
          <p:cNvSpPr/>
          <p:nvPr/>
        </p:nvSpPr>
        <p:spPr>
          <a:xfrm>
            <a:off x="4535424" y="4087368"/>
            <a:ext cx="4334256" cy="850392"/>
          </a:xfrm>
          <a:prstGeom prst="roundRect">
            <a:avLst>
              <a:gd name="adj" fmla="val 6452"/>
            </a:avLst>
          </a:prstGeom>
          <a:solidFill>
            <a:srgbClr val="F6F9FC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26" name="Text 26"/>
          <p:cNvSpPr txBox="1"/>
          <p:nvPr/>
        </p:nvSpPr>
        <p:spPr>
          <a:xfrm>
            <a:off x="4645152" y="4133088"/>
            <a:ext cx="4133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automated tests: every page renders, triage → SAR → audit flow, tamper detection, live SQL path</a:t>
            </a:r>
            <a:endParaRPr lang="en-US" sz="950" dirty="0"/>
          </a:p>
          <a:p>
            <a:pPr algn="l"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mode keeps the app working without Snowflake credentials</a:t>
            </a:r>
            <a:endParaRPr lang="en-US" sz="950" dirty="0"/>
          </a:p>
          <a:p>
            <a:pPr algn="l" marL="139700" indent="-139700">
              <a:buSzPct val="100000"/>
              <a:buChar char="•"/>
            </a:pPr>
            <a:r>
              <a:rPr lang="en-US" sz="9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synthetic seed data</a:t>
            </a:r>
            <a:endParaRPr lang="en-US" sz="950" dirty="0"/>
          </a:p>
        </p:txBody>
      </p:sp>
      <p:pic>
        <p:nvPicPr>
          <p:cNvPr id="900" name="Screenshot Overview" descr="SentinelReg Overview page: KPIs, priority queue and severity chart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535424" y="960120"/>
            <a:ext cx="2121408" cy="2121408"/>
          </a:xfrm>
          <a:prstGeom prst="roundRect">
            <a:avLst>
              <a:gd name="adj" fmla="val 3000"/>
            </a:avLst>
          </a:prstGeom>
          <a:ln w="9525">
            <a:solidFill>
              <a:srgbClr val="C9D6E2"/>
            </a:solidFill>
          </a:ln>
        </p:spPr>
      </p:pic>
      <p:pic>
        <p:nvPicPr>
          <p:cNvPr id="901" name="Screenshot Triage" descr="SentinelReg Alert Triage page: alert queue and case panel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748272" y="960120"/>
            <a:ext cx="2121408" cy="2121408"/>
          </a:xfrm>
          <a:prstGeom prst="roundRect">
            <a:avLst>
              <a:gd name="adj" fmla="val 3000"/>
            </a:avLst>
          </a:prstGeom>
          <a:ln w="9525">
            <a:solidFill>
              <a:srgbClr val="C9D6E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Text 0"/>
          <p:cNvSpPr txBox="1"/>
          <p:nvPr/>
        </p:nvSpPr>
        <p:spPr>
          <a:xfrm>
            <a:off x="274320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Impact Statement</a:t>
            </a:r>
            <a:endParaRPr lang="en-US" sz="2000" dirty="0"/>
          </a:p>
        </p:txBody>
      </p:sp>
      <p:sp>
        <p:nvSpPr>
          <p:cNvPr id="1001" name="Text 1"/>
          <p:cNvSpPr txBox="1"/>
          <p:nvPr/>
        </p:nvSpPr>
        <p:spPr>
          <a:xfrm>
            <a:off x="4206240" y="548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compliance team</a:t>
            </a:r>
            <a:endParaRPr lang="en-US" sz="1000" dirty="0"/>
          </a:p>
        </p:txBody>
      </p:sp>
      <p:sp>
        <p:nvSpPr>
          <p:cNvPr id="1002" name="Shape 2"/>
          <p:cNvSpPr/>
          <p:nvPr/>
        </p:nvSpPr>
        <p:spPr>
          <a:xfrm>
            <a:off x="274320" y="9601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003" name="Text 3"/>
          <p:cNvSpPr txBox="1"/>
          <p:nvPr/>
        </p:nvSpPr>
        <p:spPr>
          <a:xfrm>
            <a:off x="384048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2600" dirty="0"/>
          </a:p>
        </p:txBody>
      </p:sp>
      <p:sp>
        <p:nvSpPr>
          <p:cNvPr id="1004" name="Text 4"/>
          <p:cNvSpPr txBox="1"/>
          <p:nvPr/>
        </p:nvSpPr>
        <p:spPr>
          <a:xfrm>
            <a:off x="384048" y="14630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alerts linked into one fund-flow network</a:t>
            </a:r>
            <a:endParaRPr lang="en-US" sz="1000" dirty="0"/>
          </a:p>
        </p:txBody>
      </p:sp>
      <p:sp>
        <p:nvSpPr>
          <p:cNvPr id="1005" name="Shape 5"/>
          <p:cNvSpPr/>
          <p:nvPr/>
        </p:nvSpPr>
        <p:spPr>
          <a:xfrm>
            <a:off x="2446020" y="9601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006" name="Text 6"/>
          <p:cNvSpPr txBox="1"/>
          <p:nvPr/>
        </p:nvSpPr>
        <p:spPr>
          <a:xfrm>
            <a:off x="2555748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007" name="Text 7"/>
          <p:cNvSpPr txBox="1"/>
          <p:nvPr/>
        </p:nvSpPr>
        <p:spPr>
          <a:xfrm>
            <a:off x="2555748" y="14630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citations; guardrail removes unknown clauses</a:t>
            </a:r>
            <a:endParaRPr lang="en-US" sz="1000" dirty="0"/>
          </a:p>
        </p:txBody>
      </p:sp>
      <p:sp>
        <p:nvSpPr>
          <p:cNvPr id="1008" name="Shape 8"/>
          <p:cNvSpPr/>
          <p:nvPr/>
        </p:nvSpPr>
        <p:spPr>
          <a:xfrm>
            <a:off x="4617720" y="9601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009" name="Text 9"/>
          <p:cNvSpPr txBox="1"/>
          <p:nvPr/>
        </p:nvSpPr>
        <p:spPr>
          <a:xfrm>
            <a:off x="4727448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010" name="Text 10"/>
          <p:cNvSpPr txBox="1"/>
          <p:nvPr/>
        </p:nvSpPr>
        <p:spPr>
          <a:xfrm>
            <a:off x="4727448" y="14630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typologies re-run live; uncovered patterns flagged</a:t>
            </a:r>
            <a:endParaRPr lang="en-US" sz="1000" dirty="0"/>
          </a:p>
        </p:txBody>
      </p:sp>
      <p:sp>
        <p:nvSpPr>
          <p:cNvPr id="1011" name="Shape 11"/>
          <p:cNvSpPr/>
          <p:nvPr/>
        </p:nvSpPr>
        <p:spPr>
          <a:xfrm>
            <a:off x="6789420" y="9601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012" name="Text 12"/>
          <p:cNvSpPr txBox="1"/>
          <p:nvPr/>
        </p:nvSpPr>
        <p:spPr>
          <a:xfrm>
            <a:off x="6899148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</a:t>
            </a:r>
            <a:endParaRPr lang="en-US" sz="2600" dirty="0"/>
          </a:p>
        </p:txBody>
      </p:sp>
      <p:sp>
        <p:nvSpPr>
          <p:cNvPr id="1013" name="Text 13"/>
          <p:cNvSpPr txBox="1"/>
          <p:nvPr/>
        </p:nvSpPr>
        <p:spPr>
          <a:xfrm>
            <a:off x="6899148" y="14630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clocks read from the cited clause (RBI / FinCEN)</a:t>
            </a:r>
            <a:endParaRPr lang="en-US" sz="1000" dirty="0"/>
          </a:p>
        </p:txBody>
      </p:sp>
      <p:sp>
        <p:nvSpPr>
          <p:cNvPr id="1014" name="Shape 14"/>
          <p:cNvSpPr/>
          <p:nvPr/>
        </p:nvSpPr>
        <p:spPr>
          <a:xfrm>
            <a:off x="274320" y="2084832"/>
            <a:ext cx="2798064" cy="285292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15" name="Shape 15"/>
          <p:cNvSpPr/>
          <p:nvPr/>
        </p:nvSpPr>
        <p:spPr>
          <a:xfrm>
            <a:off x="402336" y="2194560"/>
            <a:ext cx="182880" cy="182880"/>
          </a:xfrm>
          <a:prstGeom prst="ellipse">
            <a:avLst/>
          </a:prstGeom>
          <a:solidFill>
            <a:srgbClr val="1F4FD8"/>
          </a:solidFill>
          <a:ln w="3175">
            <a:solidFill>
              <a:srgbClr val="1F4FD8"/>
            </a:solidFill>
            <a:prstDash val="solid"/>
          </a:ln>
        </p:spPr>
      </p:sp>
      <p:sp>
        <p:nvSpPr>
          <p:cNvPr id="1016" name="Text 16"/>
          <p:cNvSpPr txBox="1"/>
          <p:nvPr/>
        </p:nvSpPr>
        <p:spPr>
          <a:xfrm>
            <a:off x="658368" y="21579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300" dirty="0"/>
          </a:p>
        </p:txBody>
      </p:sp>
      <p:sp>
        <p:nvSpPr>
          <p:cNvPr id="1017" name="Text 17"/>
          <p:cNvSpPr txBox="1"/>
          <p:nvPr/>
        </p:nvSpPr>
        <p:spPr>
          <a:xfrm>
            <a:off x="420624" y="2560320"/>
            <a:ext cx="2523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assembly: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copy-paste to minutes (our estimate; to be validated in a pilot)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ranked by severity and time left; overdue cases surface first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regulatory statement traces to a clause ID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decisions logged; any edit breaks the SHA-256 chain</a:t>
            </a:r>
            <a:endParaRPr lang="en-US" sz="1200" dirty="0"/>
          </a:p>
        </p:txBody>
      </p:sp>
      <p:sp>
        <p:nvSpPr>
          <p:cNvPr id="1018" name="Shape 18"/>
          <p:cNvSpPr/>
          <p:nvPr/>
        </p:nvSpPr>
        <p:spPr>
          <a:xfrm>
            <a:off x="3172968" y="2084832"/>
            <a:ext cx="2798064" cy="285292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19" name="Shape 19"/>
          <p:cNvSpPr/>
          <p:nvPr/>
        </p:nvSpPr>
        <p:spPr>
          <a:xfrm>
            <a:off x="3300984" y="2194560"/>
            <a:ext cx="182880" cy="182880"/>
          </a:xfrm>
          <a:prstGeom prst="ellipse">
            <a:avLst/>
          </a:prstGeom>
          <a:solidFill>
            <a:srgbClr val="00A3E0"/>
          </a:solidFill>
          <a:ln w="3175">
            <a:solidFill>
              <a:srgbClr val="00A3E0"/>
            </a:solidFill>
            <a:prstDash val="solid"/>
          </a:ln>
        </p:spPr>
      </p:sp>
      <p:sp>
        <p:nvSpPr>
          <p:cNvPr id="1020" name="Text 20"/>
          <p:cNvSpPr txBox="1"/>
          <p:nvPr/>
        </p:nvSpPr>
        <p:spPr>
          <a:xfrm>
            <a:off x="3557016" y="21579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potential</a:t>
            </a:r>
            <a:endParaRPr lang="en-US" sz="1300" dirty="0"/>
          </a:p>
        </p:txBody>
      </p:sp>
      <p:sp>
        <p:nvSpPr>
          <p:cNvPr id="1021" name="Text 21"/>
          <p:cNvSpPr txBox="1"/>
          <p:nvPr/>
        </p:nvSpPr>
        <p:spPr>
          <a:xfrm>
            <a:off x="3319272" y="2560320"/>
            <a:ext cx="2523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 Snowflake: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warehouse, data stays in place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tables or columns in the semantic model YAML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typology: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checklist, setup → ML → semantic model → rule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regulator: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clause rows and a filing rule</a:t>
            </a:r>
            <a:endParaRPr lang="en-US" sz="1200" dirty="0"/>
          </a:p>
        </p:txBody>
      </p:sp>
      <p:sp>
        <p:nvSpPr>
          <p:cNvPr id="1022" name="Shape 22"/>
          <p:cNvSpPr/>
          <p:nvPr/>
        </p:nvSpPr>
        <p:spPr>
          <a:xfrm>
            <a:off x="6071616" y="2084832"/>
            <a:ext cx="2798064" cy="285292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23" name="Shape 23"/>
          <p:cNvSpPr/>
          <p:nvPr/>
        </p:nvSpPr>
        <p:spPr>
          <a:xfrm>
            <a:off x="6199632" y="2194560"/>
            <a:ext cx="182880" cy="182880"/>
          </a:xfrm>
          <a:prstGeom prst="ellipse">
            <a:avLst/>
          </a:prstGeom>
          <a:solidFill>
            <a:srgbClr val="1E8E5A"/>
          </a:solidFill>
          <a:ln w="3175">
            <a:solidFill>
              <a:srgbClr val="1E8E5A"/>
            </a:solidFill>
            <a:prstDash val="solid"/>
          </a:ln>
        </p:spPr>
      </p:sp>
      <p:sp>
        <p:nvSpPr>
          <p:cNvPr id="1024" name="Text 24"/>
          <p:cNvSpPr txBox="1"/>
          <p:nvPr/>
        </p:nvSpPr>
        <p:spPr>
          <a:xfrm>
            <a:off x="6455664" y="21579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demo</a:t>
            </a:r>
            <a:endParaRPr lang="en-US" sz="1300" dirty="0"/>
          </a:p>
        </p:txBody>
      </p:sp>
      <p:sp>
        <p:nvSpPr>
          <p:cNvPr id="1025" name="Text 25"/>
          <p:cNvSpPr txBox="1"/>
          <p:nvPr/>
        </p:nvSpPr>
        <p:spPr>
          <a:xfrm>
            <a:off x="6217920" y="2560320"/>
            <a:ext cx="2523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feeds: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core-banking data via Snowpipe / Streams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detection and ML scoring with Tasks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maker-checker approval before filing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algn="l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regulator packs added to the corpus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